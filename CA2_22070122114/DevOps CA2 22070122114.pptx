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DM Sans" charset="1" panose="00000000000000000000"/>
      <p:regular r:id="rId15"/>
    </p:embeddedFont>
    <p:embeddedFont>
      <p:font typeface="Inter" charset="1" panose="020B0502030000000004"/>
      <p:regular r:id="rId16"/>
    </p:embeddedFont>
    <p:embeddedFont>
      <p:font typeface="Inter Bold" charset="1" panose="020B080203000000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fonts/font18.fntdata" Type="http://schemas.openxmlformats.org/officeDocument/2006/relationships/font"/><Relationship Id="rId19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6942235" y="0"/>
            <a:ext cx="11345765" cy="10211189"/>
            <a:chOff x="0" y="0"/>
            <a:chExt cx="15240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524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2238078"/>
            <a:ext cx="4873526" cy="1790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Dev Ops Pipelinening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368553"/>
            <a:ext cx="4873526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Project summary on GitHub deployment and integrating services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6408092"/>
            <a:ext cx="2090886" cy="1338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Manraj Singh Gandhi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84401" y="6408092"/>
            <a:ext cx="2090886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22070122114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48431" y="671364"/>
            <a:ext cx="9957941" cy="50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62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The Complete DevOps Workflow: System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8431" y="1417141"/>
            <a:ext cx="17191136" cy="363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18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A end-to-end pipeline covering the entire software lifecycle from development to production monitoring.</a:t>
            </a:r>
          </a:p>
        </p:txBody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409134" y="1920180"/>
            <a:ext cx="5469731" cy="5462439"/>
            <a:chOff x="0" y="0"/>
            <a:chExt cx="7292975" cy="7283252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7292975" cy="7283196"/>
            </a:xfrm>
            <a:custGeom>
              <a:avLst/>
              <a:gdLst/>
              <a:ahLst/>
              <a:cxnLst/>
              <a:rect r="r" b="b" t="t" l="l"/>
              <a:pathLst>
                <a:path h="7283196" w="7292975">
                  <a:moveTo>
                    <a:pt x="0" y="0"/>
                  </a:moveTo>
                  <a:lnTo>
                    <a:pt x="7292975" y="0"/>
                  </a:lnTo>
                  <a:lnTo>
                    <a:pt x="7292975" y="7283196"/>
                  </a:lnTo>
                  <a:lnTo>
                    <a:pt x="0" y="7283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" t="0" r="-2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38906" y="7549306"/>
            <a:ext cx="8536335" cy="959644"/>
            <a:chOff x="0" y="0"/>
            <a:chExt cx="11381780" cy="12795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11356340" cy="1254125"/>
            </a:xfrm>
            <a:custGeom>
              <a:avLst/>
              <a:gdLst/>
              <a:ahLst/>
              <a:cxnLst/>
              <a:rect r="r" b="b" t="t" l="l"/>
              <a:pathLst>
                <a:path h="1254125" w="11356340">
                  <a:moveTo>
                    <a:pt x="0" y="121920"/>
                  </a:moveTo>
                  <a:cubicBezTo>
                    <a:pt x="0" y="54610"/>
                    <a:pt x="55626" y="0"/>
                    <a:pt x="124079" y="0"/>
                  </a:cubicBezTo>
                  <a:lnTo>
                    <a:pt x="11232261" y="0"/>
                  </a:lnTo>
                  <a:cubicBezTo>
                    <a:pt x="11300841" y="0"/>
                    <a:pt x="11356340" y="54610"/>
                    <a:pt x="11356340" y="121920"/>
                  </a:cubicBezTo>
                  <a:lnTo>
                    <a:pt x="11356340" y="1132205"/>
                  </a:lnTo>
                  <a:cubicBezTo>
                    <a:pt x="11356340" y="1199515"/>
                    <a:pt x="11300714" y="1254125"/>
                    <a:pt x="11232261" y="1254125"/>
                  </a:cubicBezTo>
                  <a:lnTo>
                    <a:pt x="124079" y="1254125"/>
                  </a:lnTo>
                  <a:cubicBezTo>
                    <a:pt x="55499" y="1254125"/>
                    <a:pt x="0" y="1199515"/>
                    <a:pt x="0" y="1132205"/>
                  </a:cubicBezTo>
                  <a:close/>
                </a:path>
              </a:pathLst>
            </a:custGeom>
            <a:solidFill>
              <a:srgbClr val="2D3133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81740" cy="1279525"/>
            </a:xfrm>
            <a:custGeom>
              <a:avLst/>
              <a:gdLst/>
              <a:ahLst/>
              <a:cxnLst/>
              <a:rect r="r" b="b" t="t" l="l"/>
              <a:pathLst>
                <a:path h="1279525" w="11381740">
                  <a:moveTo>
                    <a:pt x="0" y="134620"/>
                  </a:moveTo>
                  <a:cubicBezTo>
                    <a:pt x="0" y="60071"/>
                    <a:pt x="61468" y="0"/>
                    <a:pt x="136779" y="0"/>
                  </a:cubicBezTo>
                  <a:lnTo>
                    <a:pt x="11244961" y="0"/>
                  </a:lnTo>
                  <a:lnTo>
                    <a:pt x="11244961" y="12700"/>
                  </a:lnTo>
                  <a:lnTo>
                    <a:pt x="11244961" y="0"/>
                  </a:lnTo>
                  <a:cubicBezTo>
                    <a:pt x="11320272" y="0"/>
                    <a:pt x="11381740" y="60071"/>
                    <a:pt x="11381740" y="134620"/>
                  </a:cubicBezTo>
                  <a:lnTo>
                    <a:pt x="11369040" y="134620"/>
                  </a:lnTo>
                  <a:lnTo>
                    <a:pt x="11381740" y="134620"/>
                  </a:lnTo>
                  <a:lnTo>
                    <a:pt x="11381740" y="1144905"/>
                  </a:lnTo>
                  <a:lnTo>
                    <a:pt x="11369040" y="1144905"/>
                  </a:lnTo>
                  <a:lnTo>
                    <a:pt x="11381740" y="1144905"/>
                  </a:lnTo>
                  <a:cubicBezTo>
                    <a:pt x="11381740" y="1219454"/>
                    <a:pt x="11320272" y="1279525"/>
                    <a:pt x="11244961" y="1279525"/>
                  </a:cubicBezTo>
                  <a:lnTo>
                    <a:pt x="11244961" y="1266825"/>
                  </a:lnTo>
                  <a:lnTo>
                    <a:pt x="11244961" y="1279525"/>
                  </a:lnTo>
                  <a:lnTo>
                    <a:pt x="136779" y="1279525"/>
                  </a:lnTo>
                  <a:lnTo>
                    <a:pt x="136779" y="1266825"/>
                  </a:lnTo>
                  <a:lnTo>
                    <a:pt x="136779" y="1279525"/>
                  </a:lnTo>
                  <a:cubicBezTo>
                    <a:pt x="61468" y="1279525"/>
                    <a:pt x="0" y="1219454"/>
                    <a:pt x="0" y="1144905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144905"/>
                  </a:lnTo>
                  <a:lnTo>
                    <a:pt x="12700" y="1144905"/>
                  </a:lnTo>
                  <a:lnTo>
                    <a:pt x="25400" y="1144905"/>
                  </a:lnTo>
                  <a:cubicBezTo>
                    <a:pt x="25400" y="1204976"/>
                    <a:pt x="75057" y="1254125"/>
                    <a:pt x="136779" y="1254125"/>
                  </a:cubicBezTo>
                  <a:lnTo>
                    <a:pt x="11244961" y="1254125"/>
                  </a:lnTo>
                  <a:cubicBezTo>
                    <a:pt x="11306683" y="1254125"/>
                    <a:pt x="11356340" y="1204976"/>
                    <a:pt x="11356340" y="1144905"/>
                  </a:cubicBezTo>
                  <a:lnTo>
                    <a:pt x="11356340" y="134620"/>
                  </a:lnTo>
                  <a:cubicBezTo>
                    <a:pt x="11356340" y="74549"/>
                    <a:pt x="11306683" y="25400"/>
                    <a:pt x="11244961" y="25400"/>
                  </a:cubicBezTo>
                  <a:lnTo>
                    <a:pt x="136779" y="25400"/>
                  </a:lnTo>
                  <a:lnTo>
                    <a:pt x="136779" y="12700"/>
                  </a:lnTo>
                  <a:lnTo>
                    <a:pt x="136779" y="25400"/>
                  </a:lnTo>
                  <a:cubicBezTo>
                    <a:pt x="75057" y="25400"/>
                    <a:pt x="25400" y="74549"/>
                    <a:pt x="25400" y="134620"/>
                  </a:cubicBezTo>
                  <a:close/>
                </a:path>
              </a:pathLst>
            </a:custGeom>
            <a:solidFill>
              <a:srgbClr val="65696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29381" y="7558831"/>
            <a:ext cx="76200" cy="940594"/>
            <a:chOff x="0" y="0"/>
            <a:chExt cx="101600" cy="12541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600" cy="1254125"/>
            </a:xfrm>
            <a:custGeom>
              <a:avLst/>
              <a:gdLst/>
              <a:ahLst/>
              <a:cxnLst/>
              <a:rect r="r" b="b" t="t" l="l"/>
              <a:pathLst>
                <a:path h="1254125" w="101600">
                  <a:moveTo>
                    <a:pt x="0" y="31369"/>
                  </a:moveTo>
                  <a:cubicBezTo>
                    <a:pt x="0" y="13970"/>
                    <a:pt x="13970" y="0"/>
                    <a:pt x="31369" y="0"/>
                  </a:cubicBezTo>
                  <a:lnTo>
                    <a:pt x="70231" y="0"/>
                  </a:lnTo>
                  <a:cubicBezTo>
                    <a:pt x="87630" y="0"/>
                    <a:pt x="101600" y="13970"/>
                    <a:pt x="101600" y="31369"/>
                  </a:cubicBezTo>
                  <a:lnTo>
                    <a:pt x="101600" y="1222756"/>
                  </a:lnTo>
                  <a:cubicBezTo>
                    <a:pt x="101600" y="1240028"/>
                    <a:pt x="87630" y="1254125"/>
                    <a:pt x="70231" y="1254125"/>
                  </a:cubicBezTo>
                  <a:lnTo>
                    <a:pt x="31369" y="1254125"/>
                  </a:lnTo>
                  <a:cubicBezTo>
                    <a:pt x="13970" y="1254125"/>
                    <a:pt x="0" y="1240155"/>
                    <a:pt x="0" y="1222756"/>
                  </a:cubicBezTo>
                  <a:close/>
                </a:path>
              </a:pathLst>
            </a:custGeom>
            <a:solidFill>
              <a:srgbClr val="AC9EF5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81199" y="7724924"/>
            <a:ext cx="2171402" cy="25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Source Control &amp; CI/CD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1199" y="8016031"/>
            <a:ext cx="8108900" cy="30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Starts with a code push to Git, triggering an automated pipeline using </a:t>
            </a:r>
            <a:r>
              <a:rPr lang="en-US" sz="1187" b="true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GitHub Actions</a:t>
            </a:r>
            <a:r>
              <a:rPr lang="en-US" sz="1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12759" y="7549306"/>
            <a:ext cx="8536335" cy="959644"/>
            <a:chOff x="0" y="0"/>
            <a:chExt cx="11381780" cy="12795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1356340" cy="1254125"/>
            </a:xfrm>
            <a:custGeom>
              <a:avLst/>
              <a:gdLst/>
              <a:ahLst/>
              <a:cxnLst/>
              <a:rect r="r" b="b" t="t" l="l"/>
              <a:pathLst>
                <a:path h="1254125" w="11356340">
                  <a:moveTo>
                    <a:pt x="0" y="121920"/>
                  </a:moveTo>
                  <a:cubicBezTo>
                    <a:pt x="0" y="54610"/>
                    <a:pt x="55626" y="0"/>
                    <a:pt x="124079" y="0"/>
                  </a:cubicBezTo>
                  <a:lnTo>
                    <a:pt x="11232261" y="0"/>
                  </a:lnTo>
                  <a:cubicBezTo>
                    <a:pt x="11300841" y="0"/>
                    <a:pt x="11356340" y="54610"/>
                    <a:pt x="11356340" y="121920"/>
                  </a:cubicBezTo>
                  <a:lnTo>
                    <a:pt x="11356340" y="1132205"/>
                  </a:lnTo>
                  <a:cubicBezTo>
                    <a:pt x="11356340" y="1199515"/>
                    <a:pt x="11300714" y="1254125"/>
                    <a:pt x="11232261" y="1254125"/>
                  </a:cubicBezTo>
                  <a:lnTo>
                    <a:pt x="124079" y="1254125"/>
                  </a:lnTo>
                  <a:cubicBezTo>
                    <a:pt x="55499" y="1254125"/>
                    <a:pt x="0" y="1199515"/>
                    <a:pt x="0" y="1132205"/>
                  </a:cubicBezTo>
                  <a:close/>
                </a:path>
              </a:pathLst>
            </a:custGeom>
            <a:solidFill>
              <a:srgbClr val="2D3133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81740" cy="1279525"/>
            </a:xfrm>
            <a:custGeom>
              <a:avLst/>
              <a:gdLst/>
              <a:ahLst/>
              <a:cxnLst/>
              <a:rect r="r" b="b" t="t" l="l"/>
              <a:pathLst>
                <a:path h="1279525" w="11381740">
                  <a:moveTo>
                    <a:pt x="0" y="134620"/>
                  </a:moveTo>
                  <a:cubicBezTo>
                    <a:pt x="0" y="60071"/>
                    <a:pt x="61468" y="0"/>
                    <a:pt x="136779" y="0"/>
                  </a:cubicBezTo>
                  <a:lnTo>
                    <a:pt x="11244961" y="0"/>
                  </a:lnTo>
                  <a:lnTo>
                    <a:pt x="11244961" y="12700"/>
                  </a:lnTo>
                  <a:lnTo>
                    <a:pt x="11244961" y="0"/>
                  </a:lnTo>
                  <a:cubicBezTo>
                    <a:pt x="11320272" y="0"/>
                    <a:pt x="11381740" y="60071"/>
                    <a:pt x="11381740" y="134620"/>
                  </a:cubicBezTo>
                  <a:lnTo>
                    <a:pt x="11369040" y="134620"/>
                  </a:lnTo>
                  <a:lnTo>
                    <a:pt x="11381740" y="134620"/>
                  </a:lnTo>
                  <a:lnTo>
                    <a:pt x="11381740" y="1144905"/>
                  </a:lnTo>
                  <a:lnTo>
                    <a:pt x="11369040" y="1144905"/>
                  </a:lnTo>
                  <a:lnTo>
                    <a:pt x="11381740" y="1144905"/>
                  </a:lnTo>
                  <a:cubicBezTo>
                    <a:pt x="11381740" y="1219454"/>
                    <a:pt x="11320272" y="1279525"/>
                    <a:pt x="11244961" y="1279525"/>
                  </a:cubicBezTo>
                  <a:lnTo>
                    <a:pt x="11244961" y="1266825"/>
                  </a:lnTo>
                  <a:lnTo>
                    <a:pt x="11244961" y="1279525"/>
                  </a:lnTo>
                  <a:lnTo>
                    <a:pt x="136779" y="1279525"/>
                  </a:lnTo>
                  <a:lnTo>
                    <a:pt x="136779" y="1266825"/>
                  </a:lnTo>
                  <a:lnTo>
                    <a:pt x="136779" y="1279525"/>
                  </a:lnTo>
                  <a:cubicBezTo>
                    <a:pt x="61468" y="1279525"/>
                    <a:pt x="0" y="1219454"/>
                    <a:pt x="0" y="1144905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144905"/>
                  </a:lnTo>
                  <a:lnTo>
                    <a:pt x="12700" y="1144905"/>
                  </a:lnTo>
                  <a:lnTo>
                    <a:pt x="25400" y="1144905"/>
                  </a:lnTo>
                  <a:cubicBezTo>
                    <a:pt x="25400" y="1204976"/>
                    <a:pt x="75057" y="1254125"/>
                    <a:pt x="136779" y="1254125"/>
                  </a:cubicBezTo>
                  <a:lnTo>
                    <a:pt x="11244961" y="1254125"/>
                  </a:lnTo>
                  <a:cubicBezTo>
                    <a:pt x="11306683" y="1254125"/>
                    <a:pt x="11356340" y="1204976"/>
                    <a:pt x="11356340" y="1144905"/>
                  </a:cubicBezTo>
                  <a:lnTo>
                    <a:pt x="11356340" y="134620"/>
                  </a:lnTo>
                  <a:cubicBezTo>
                    <a:pt x="11356340" y="74549"/>
                    <a:pt x="11306683" y="25400"/>
                    <a:pt x="11244961" y="25400"/>
                  </a:cubicBezTo>
                  <a:lnTo>
                    <a:pt x="136779" y="25400"/>
                  </a:lnTo>
                  <a:lnTo>
                    <a:pt x="136779" y="12700"/>
                  </a:lnTo>
                  <a:lnTo>
                    <a:pt x="136779" y="25400"/>
                  </a:lnTo>
                  <a:cubicBezTo>
                    <a:pt x="75057" y="25400"/>
                    <a:pt x="25400" y="74549"/>
                    <a:pt x="25400" y="134620"/>
                  </a:cubicBezTo>
                  <a:close/>
                </a:path>
              </a:pathLst>
            </a:custGeom>
            <a:solidFill>
              <a:srgbClr val="65696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203234" y="7558831"/>
            <a:ext cx="76200" cy="940594"/>
            <a:chOff x="0" y="0"/>
            <a:chExt cx="101600" cy="12541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1600" cy="1254125"/>
            </a:xfrm>
            <a:custGeom>
              <a:avLst/>
              <a:gdLst/>
              <a:ahLst/>
              <a:cxnLst/>
              <a:rect r="r" b="b" t="t" l="l"/>
              <a:pathLst>
                <a:path h="1254125" w="101600">
                  <a:moveTo>
                    <a:pt x="0" y="31369"/>
                  </a:moveTo>
                  <a:cubicBezTo>
                    <a:pt x="0" y="13970"/>
                    <a:pt x="13970" y="0"/>
                    <a:pt x="31369" y="0"/>
                  </a:cubicBezTo>
                  <a:lnTo>
                    <a:pt x="70231" y="0"/>
                  </a:lnTo>
                  <a:cubicBezTo>
                    <a:pt x="87630" y="0"/>
                    <a:pt x="101600" y="13970"/>
                    <a:pt x="101600" y="31369"/>
                  </a:cubicBezTo>
                  <a:lnTo>
                    <a:pt x="101600" y="1222756"/>
                  </a:lnTo>
                  <a:cubicBezTo>
                    <a:pt x="101600" y="1240028"/>
                    <a:pt x="87630" y="1254125"/>
                    <a:pt x="70231" y="1254125"/>
                  </a:cubicBezTo>
                  <a:lnTo>
                    <a:pt x="31369" y="1254125"/>
                  </a:lnTo>
                  <a:cubicBezTo>
                    <a:pt x="13970" y="1254125"/>
                    <a:pt x="0" y="1240155"/>
                    <a:pt x="0" y="1222756"/>
                  </a:cubicBezTo>
                  <a:close/>
                </a:path>
              </a:pathLst>
            </a:custGeom>
            <a:solidFill>
              <a:srgbClr val="AC9EF5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455051" y="7724924"/>
            <a:ext cx="2568774" cy="25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Containerization &amp; Artifacts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55051" y="8016031"/>
            <a:ext cx="8108900" cy="30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Code is built into a lightweight Docker image (with Nginx) and pushed to </a:t>
            </a:r>
            <a:r>
              <a:rPr lang="en-US" sz="1187" b="true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Docker Hub</a:t>
            </a:r>
            <a:r>
              <a:rPr lang="en-US" sz="1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for versioning.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38906" y="8646467"/>
            <a:ext cx="8536335" cy="959644"/>
            <a:chOff x="0" y="0"/>
            <a:chExt cx="11381780" cy="12795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11356340" cy="1254125"/>
            </a:xfrm>
            <a:custGeom>
              <a:avLst/>
              <a:gdLst/>
              <a:ahLst/>
              <a:cxnLst/>
              <a:rect r="r" b="b" t="t" l="l"/>
              <a:pathLst>
                <a:path h="1254125" w="11356340">
                  <a:moveTo>
                    <a:pt x="0" y="121920"/>
                  </a:moveTo>
                  <a:cubicBezTo>
                    <a:pt x="0" y="54610"/>
                    <a:pt x="55626" y="0"/>
                    <a:pt x="124079" y="0"/>
                  </a:cubicBezTo>
                  <a:lnTo>
                    <a:pt x="11232261" y="0"/>
                  </a:lnTo>
                  <a:cubicBezTo>
                    <a:pt x="11300841" y="0"/>
                    <a:pt x="11356340" y="54610"/>
                    <a:pt x="11356340" y="121920"/>
                  </a:cubicBezTo>
                  <a:lnTo>
                    <a:pt x="11356340" y="1132205"/>
                  </a:lnTo>
                  <a:cubicBezTo>
                    <a:pt x="11356340" y="1199515"/>
                    <a:pt x="11300714" y="1254125"/>
                    <a:pt x="11232261" y="1254125"/>
                  </a:cubicBezTo>
                  <a:lnTo>
                    <a:pt x="124079" y="1254125"/>
                  </a:lnTo>
                  <a:cubicBezTo>
                    <a:pt x="55499" y="1254125"/>
                    <a:pt x="0" y="1199515"/>
                    <a:pt x="0" y="1132205"/>
                  </a:cubicBezTo>
                  <a:close/>
                </a:path>
              </a:pathLst>
            </a:custGeom>
            <a:solidFill>
              <a:srgbClr val="2D3133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381740" cy="1279525"/>
            </a:xfrm>
            <a:custGeom>
              <a:avLst/>
              <a:gdLst/>
              <a:ahLst/>
              <a:cxnLst/>
              <a:rect r="r" b="b" t="t" l="l"/>
              <a:pathLst>
                <a:path h="1279525" w="11381740">
                  <a:moveTo>
                    <a:pt x="0" y="134620"/>
                  </a:moveTo>
                  <a:cubicBezTo>
                    <a:pt x="0" y="60071"/>
                    <a:pt x="61468" y="0"/>
                    <a:pt x="136779" y="0"/>
                  </a:cubicBezTo>
                  <a:lnTo>
                    <a:pt x="11244961" y="0"/>
                  </a:lnTo>
                  <a:lnTo>
                    <a:pt x="11244961" y="12700"/>
                  </a:lnTo>
                  <a:lnTo>
                    <a:pt x="11244961" y="0"/>
                  </a:lnTo>
                  <a:cubicBezTo>
                    <a:pt x="11320272" y="0"/>
                    <a:pt x="11381740" y="60071"/>
                    <a:pt x="11381740" y="134620"/>
                  </a:cubicBezTo>
                  <a:lnTo>
                    <a:pt x="11369040" y="134620"/>
                  </a:lnTo>
                  <a:lnTo>
                    <a:pt x="11381740" y="134620"/>
                  </a:lnTo>
                  <a:lnTo>
                    <a:pt x="11381740" y="1144905"/>
                  </a:lnTo>
                  <a:lnTo>
                    <a:pt x="11369040" y="1144905"/>
                  </a:lnTo>
                  <a:lnTo>
                    <a:pt x="11381740" y="1144905"/>
                  </a:lnTo>
                  <a:cubicBezTo>
                    <a:pt x="11381740" y="1219454"/>
                    <a:pt x="11320272" y="1279525"/>
                    <a:pt x="11244961" y="1279525"/>
                  </a:cubicBezTo>
                  <a:lnTo>
                    <a:pt x="11244961" y="1266825"/>
                  </a:lnTo>
                  <a:lnTo>
                    <a:pt x="11244961" y="1279525"/>
                  </a:lnTo>
                  <a:lnTo>
                    <a:pt x="136779" y="1279525"/>
                  </a:lnTo>
                  <a:lnTo>
                    <a:pt x="136779" y="1266825"/>
                  </a:lnTo>
                  <a:lnTo>
                    <a:pt x="136779" y="1279525"/>
                  </a:lnTo>
                  <a:cubicBezTo>
                    <a:pt x="61468" y="1279525"/>
                    <a:pt x="0" y="1219454"/>
                    <a:pt x="0" y="1144905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144905"/>
                  </a:lnTo>
                  <a:lnTo>
                    <a:pt x="12700" y="1144905"/>
                  </a:lnTo>
                  <a:lnTo>
                    <a:pt x="25400" y="1144905"/>
                  </a:lnTo>
                  <a:cubicBezTo>
                    <a:pt x="25400" y="1204976"/>
                    <a:pt x="75057" y="1254125"/>
                    <a:pt x="136779" y="1254125"/>
                  </a:cubicBezTo>
                  <a:lnTo>
                    <a:pt x="11244961" y="1254125"/>
                  </a:lnTo>
                  <a:cubicBezTo>
                    <a:pt x="11306683" y="1254125"/>
                    <a:pt x="11356340" y="1204976"/>
                    <a:pt x="11356340" y="1144905"/>
                  </a:cubicBezTo>
                  <a:lnTo>
                    <a:pt x="11356340" y="134620"/>
                  </a:lnTo>
                  <a:cubicBezTo>
                    <a:pt x="11356340" y="74549"/>
                    <a:pt x="11306683" y="25400"/>
                    <a:pt x="11244961" y="25400"/>
                  </a:cubicBezTo>
                  <a:lnTo>
                    <a:pt x="136779" y="25400"/>
                  </a:lnTo>
                  <a:lnTo>
                    <a:pt x="136779" y="12700"/>
                  </a:lnTo>
                  <a:lnTo>
                    <a:pt x="136779" y="25400"/>
                  </a:lnTo>
                  <a:cubicBezTo>
                    <a:pt x="75057" y="25400"/>
                    <a:pt x="25400" y="74549"/>
                    <a:pt x="25400" y="134620"/>
                  </a:cubicBezTo>
                  <a:close/>
                </a:path>
              </a:pathLst>
            </a:custGeom>
            <a:solidFill>
              <a:srgbClr val="65696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29381" y="8655992"/>
            <a:ext cx="76200" cy="940594"/>
            <a:chOff x="0" y="0"/>
            <a:chExt cx="101600" cy="125412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1600" cy="1254125"/>
            </a:xfrm>
            <a:custGeom>
              <a:avLst/>
              <a:gdLst/>
              <a:ahLst/>
              <a:cxnLst/>
              <a:rect r="r" b="b" t="t" l="l"/>
              <a:pathLst>
                <a:path h="1254125" w="101600">
                  <a:moveTo>
                    <a:pt x="0" y="31369"/>
                  </a:moveTo>
                  <a:cubicBezTo>
                    <a:pt x="0" y="13970"/>
                    <a:pt x="13970" y="0"/>
                    <a:pt x="31369" y="0"/>
                  </a:cubicBezTo>
                  <a:lnTo>
                    <a:pt x="70231" y="0"/>
                  </a:lnTo>
                  <a:cubicBezTo>
                    <a:pt x="87630" y="0"/>
                    <a:pt x="101600" y="13970"/>
                    <a:pt x="101600" y="31369"/>
                  </a:cubicBezTo>
                  <a:lnTo>
                    <a:pt x="101600" y="1222756"/>
                  </a:lnTo>
                  <a:cubicBezTo>
                    <a:pt x="101600" y="1240028"/>
                    <a:pt x="87630" y="1254125"/>
                    <a:pt x="70231" y="1254125"/>
                  </a:cubicBezTo>
                  <a:lnTo>
                    <a:pt x="31369" y="1254125"/>
                  </a:lnTo>
                  <a:cubicBezTo>
                    <a:pt x="13970" y="1254125"/>
                    <a:pt x="0" y="1240155"/>
                    <a:pt x="0" y="1222756"/>
                  </a:cubicBezTo>
                  <a:close/>
                </a:path>
              </a:pathLst>
            </a:custGeom>
            <a:solidFill>
              <a:srgbClr val="AC9EF5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781199" y="8822085"/>
            <a:ext cx="1958728" cy="25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Orchestration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81199" y="9113192"/>
            <a:ext cx="8108900" cy="30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187" b="true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Kubernetes</a:t>
            </a:r>
            <a:r>
              <a:rPr lang="en-US" sz="1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manages deployment, pulling the image and ensuring high availability with 3 replicas.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212759" y="8646467"/>
            <a:ext cx="8536335" cy="959644"/>
            <a:chOff x="0" y="0"/>
            <a:chExt cx="11381780" cy="127952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2700" y="12700"/>
              <a:ext cx="11356340" cy="1254125"/>
            </a:xfrm>
            <a:custGeom>
              <a:avLst/>
              <a:gdLst/>
              <a:ahLst/>
              <a:cxnLst/>
              <a:rect r="r" b="b" t="t" l="l"/>
              <a:pathLst>
                <a:path h="1254125" w="11356340">
                  <a:moveTo>
                    <a:pt x="0" y="121920"/>
                  </a:moveTo>
                  <a:cubicBezTo>
                    <a:pt x="0" y="54610"/>
                    <a:pt x="55626" y="0"/>
                    <a:pt x="124079" y="0"/>
                  </a:cubicBezTo>
                  <a:lnTo>
                    <a:pt x="11232261" y="0"/>
                  </a:lnTo>
                  <a:cubicBezTo>
                    <a:pt x="11300841" y="0"/>
                    <a:pt x="11356340" y="54610"/>
                    <a:pt x="11356340" y="121920"/>
                  </a:cubicBezTo>
                  <a:lnTo>
                    <a:pt x="11356340" y="1132205"/>
                  </a:lnTo>
                  <a:cubicBezTo>
                    <a:pt x="11356340" y="1199515"/>
                    <a:pt x="11300714" y="1254125"/>
                    <a:pt x="11232261" y="1254125"/>
                  </a:cubicBezTo>
                  <a:lnTo>
                    <a:pt x="124079" y="1254125"/>
                  </a:lnTo>
                  <a:cubicBezTo>
                    <a:pt x="55499" y="1254125"/>
                    <a:pt x="0" y="1199515"/>
                    <a:pt x="0" y="1132205"/>
                  </a:cubicBezTo>
                  <a:close/>
                </a:path>
              </a:pathLst>
            </a:custGeom>
            <a:solidFill>
              <a:srgbClr val="2D3133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381740" cy="1279525"/>
            </a:xfrm>
            <a:custGeom>
              <a:avLst/>
              <a:gdLst/>
              <a:ahLst/>
              <a:cxnLst/>
              <a:rect r="r" b="b" t="t" l="l"/>
              <a:pathLst>
                <a:path h="1279525" w="11381740">
                  <a:moveTo>
                    <a:pt x="0" y="134620"/>
                  </a:moveTo>
                  <a:cubicBezTo>
                    <a:pt x="0" y="60071"/>
                    <a:pt x="61468" y="0"/>
                    <a:pt x="136779" y="0"/>
                  </a:cubicBezTo>
                  <a:lnTo>
                    <a:pt x="11244961" y="0"/>
                  </a:lnTo>
                  <a:lnTo>
                    <a:pt x="11244961" y="12700"/>
                  </a:lnTo>
                  <a:lnTo>
                    <a:pt x="11244961" y="0"/>
                  </a:lnTo>
                  <a:cubicBezTo>
                    <a:pt x="11320272" y="0"/>
                    <a:pt x="11381740" y="60071"/>
                    <a:pt x="11381740" y="134620"/>
                  </a:cubicBezTo>
                  <a:lnTo>
                    <a:pt x="11369040" y="134620"/>
                  </a:lnTo>
                  <a:lnTo>
                    <a:pt x="11381740" y="134620"/>
                  </a:lnTo>
                  <a:lnTo>
                    <a:pt x="11381740" y="1144905"/>
                  </a:lnTo>
                  <a:lnTo>
                    <a:pt x="11369040" y="1144905"/>
                  </a:lnTo>
                  <a:lnTo>
                    <a:pt x="11381740" y="1144905"/>
                  </a:lnTo>
                  <a:cubicBezTo>
                    <a:pt x="11381740" y="1219454"/>
                    <a:pt x="11320272" y="1279525"/>
                    <a:pt x="11244961" y="1279525"/>
                  </a:cubicBezTo>
                  <a:lnTo>
                    <a:pt x="11244961" y="1266825"/>
                  </a:lnTo>
                  <a:lnTo>
                    <a:pt x="11244961" y="1279525"/>
                  </a:lnTo>
                  <a:lnTo>
                    <a:pt x="136779" y="1279525"/>
                  </a:lnTo>
                  <a:lnTo>
                    <a:pt x="136779" y="1266825"/>
                  </a:lnTo>
                  <a:lnTo>
                    <a:pt x="136779" y="1279525"/>
                  </a:lnTo>
                  <a:cubicBezTo>
                    <a:pt x="61468" y="1279525"/>
                    <a:pt x="0" y="1219454"/>
                    <a:pt x="0" y="1144905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144905"/>
                  </a:lnTo>
                  <a:lnTo>
                    <a:pt x="12700" y="1144905"/>
                  </a:lnTo>
                  <a:lnTo>
                    <a:pt x="25400" y="1144905"/>
                  </a:lnTo>
                  <a:cubicBezTo>
                    <a:pt x="25400" y="1204976"/>
                    <a:pt x="75057" y="1254125"/>
                    <a:pt x="136779" y="1254125"/>
                  </a:cubicBezTo>
                  <a:lnTo>
                    <a:pt x="11244961" y="1254125"/>
                  </a:lnTo>
                  <a:cubicBezTo>
                    <a:pt x="11306683" y="1254125"/>
                    <a:pt x="11356340" y="1204976"/>
                    <a:pt x="11356340" y="1144905"/>
                  </a:cubicBezTo>
                  <a:lnTo>
                    <a:pt x="11356340" y="134620"/>
                  </a:lnTo>
                  <a:cubicBezTo>
                    <a:pt x="11356340" y="74549"/>
                    <a:pt x="11306683" y="25400"/>
                    <a:pt x="11244961" y="25400"/>
                  </a:cubicBezTo>
                  <a:lnTo>
                    <a:pt x="136779" y="25400"/>
                  </a:lnTo>
                  <a:lnTo>
                    <a:pt x="136779" y="12700"/>
                  </a:lnTo>
                  <a:lnTo>
                    <a:pt x="136779" y="25400"/>
                  </a:lnTo>
                  <a:cubicBezTo>
                    <a:pt x="75057" y="25400"/>
                    <a:pt x="25400" y="74549"/>
                    <a:pt x="25400" y="134620"/>
                  </a:cubicBezTo>
                  <a:close/>
                </a:path>
              </a:pathLst>
            </a:custGeom>
            <a:solidFill>
              <a:srgbClr val="65696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203234" y="8655992"/>
            <a:ext cx="76200" cy="940594"/>
            <a:chOff x="0" y="0"/>
            <a:chExt cx="101600" cy="125412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1600" cy="1254125"/>
            </a:xfrm>
            <a:custGeom>
              <a:avLst/>
              <a:gdLst/>
              <a:ahLst/>
              <a:cxnLst/>
              <a:rect r="r" b="b" t="t" l="l"/>
              <a:pathLst>
                <a:path h="1254125" w="101600">
                  <a:moveTo>
                    <a:pt x="0" y="31369"/>
                  </a:moveTo>
                  <a:cubicBezTo>
                    <a:pt x="0" y="13970"/>
                    <a:pt x="13970" y="0"/>
                    <a:pt x="31369" y="0"/>
                  </a:cubicBezTo>
                  <a:lnTo>
                    <a:pt x="70231" y="0"/>
                  </a:lnTo>
                  <a:cubicBezTo>
                    <a:pt x="87630" y="0"/>
                    <a:pt x="101600" y="13970"/>
                    <a:pt x="101600" y="31369"/>
                  </a:cubicBezTo>
                  <a:lnTo>
                    <a:pt x="101600" y="1222756"/>
                  </a:lnTo>
                  <a:cubicBezTo>
                    <a:pt x="101600" y="1240028"/>
                    <a:pt x="87630" y="1254125"/>
                    <a:pt x="70231" y="1254125"/>
                  </a:cubicBezTo>
                  <a:lnTo>
                    <a:pt x="31369" y="1254125"/>
                  </a:lnTo>
                  <a:cubicBezTo>
                    <a:pt x="13970" y="1254125"/>
                    <a:pt x="0" y="1240155"/>
                    <a:pt x="0" y="1222756"/>
                  </a:cubicBezTo>
                  <a:close/>
                </a:path>
              </a:pathLst>
            </a:custGeom>
            <a:solidFill>
              <a:srgbClr val="AC9EF5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455051" y="8822085"/>
            <a:ext cx="2398811" cy="25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Monitoring &amp; Visualization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455051" y="9113192"/>
            <a:ext cx="8108900" cy="30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7"/>
              </a:lnSpc>
            </a:pPr>
            <a:r>
              <a:rPr lang="en-US" sz="1187" b="true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Prometheus</a:t>
            </a:r>
            <a:r>
              <a:rPr lang="en-US" sz="1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scrapes application metrics, which are visualized in real-time using </a:t>
            </a:r>
            <a:r>
              <a:rPr lang="en-US" sz="1187" b="true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Grafana</a:t>
            </a:r>
            <a:r>
              <a:rPr lang="en-US" sz="1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57969" y="497979"/>
            <a:ext cx="10186392" cy="60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5"/>
              </a:lnSpc>
            </a:pPr>
            <a:r>
              <a:rPr lang="en-US" sz="3687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Automation: CI/CD and Infrastructure as Code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7969" y="1730475"/>
            <a:ext cx="8675787" cy="72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5"/>
              </a:lnSpc>
            </a:pPr>
            <a:r>
              <a:rPr lang="en-US" sz="183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Automation ensures speed, consistency, and repeatability across the build and setup processes.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7969" y="3292451"/>
            <a:ext cx="4629894" cy="34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CI/CD Pipeline with GitHub Actions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57969" y="3740126"/>
            <a:ext cx="752029" cy="1158180"/>
            <a:chOff x="0" y="0"/>
            <a:chExt cx="1002705" cy="15442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2665" cy="1544320"/>
            </a:xfrm>
            <a:custGeom>
              <a:avLst/>
              <a:gdLst/>
              <a:ahLst/>
              <a:cxnLst/>
              <a:rect r="r" b="b" t="t" l="l"/>
              <a:pathLst>
                <a:path h="1544320" w="1002665">
                  <a:moveTo>
                    <a:pt x="0" y="501396"/>
                  </a:moveTo>
                  <a:cubicBezTo>
                    <a:pt x="0" y="224409"/>
                    <a:pt x="224409" y="0"/>
                    <a:pt x="501396" y="0"/>
                  </a:cubicBezTo>
                  <a:cubicBezTo>
                    <a:pt x="778383" y="0"/>
                    <a:pt x="1002665" y="224409"/>
                    <a:pt x="1002665" y="501396"/>
                  </a:cubicBezTo>
                  <a:lnTo>
                    <a:pt x="1002665" y="1042924"/>
                  </a:lnTo>
                  <a:cubicBezTo>
                    <a:pt x="1002665" y="1319784"/>
                    <a:pt x="778256" y="1544320"/>
                    <a:pt x="501269" y="1544320"/>
                  </a:cubicBezTo>
                  <a:cubicBezTo>
                    <a:pt x="224282" y="1544320"/>
                    <a:pt x="0" y="1319784"/>
                    <a:pt x="0" y="1042924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92969" y="4181104"/>
            <a:ext cx="281880" cy="293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2187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97968" y="3909045"/>
            <a:ext cx="2483792" cy="287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12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Secure Authentication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97968" y="4343029"/>
            <a:ext cx="7316689" cy="277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Uses encrypted repository secrets to securely log into Docker Hub.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7969" y="5086276"/>
            <a:ext cx="752029" cy="1468339"/>
            <a:chOff x="0" y="0"/>
            <a:chExt cx="1002705" cy="19577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2665" cy="1957832"/>
            </a:xfrm>
            <a:custGeom>
              <a:avLst/>
              <a:gdLst/>
              <a:ahLst/>
              <a:cxnLst/>
              <a:rect r="r" b="b" t="t" l="l"/>
              <a:pathLst>
                <a:path h="1957832" w="1002665">
                  <a:moveTo>
                    <a:pt x="0" y="501396"/>
                  </a:moveTo>
                  <a:cubicBezTo>
                    <a:pt x="0" y="224409"/>
                    <a:pt x="224409" y="0"/>
                    <a:pt x="501396" y="0"/>
                  </a:cubicBezTo>
                  <a:cubicBezTo>
                    <a:pt x="778383" y="0"/>
                    <a:pt x="1002665" y="224409"/>
                    <a:pt x="1002665" y="501396"/>
                  </a:cubicBezTo>
                  <a:lnTo>
                    <a:pt x="1002665" y="1456436"/>
                  </a:lnTo>
                  <a:cubicBezTo>
                    <a:pt x="1002665" y="1733296"/>
                    <a:pt x="778256" y="1957832"/>
                    <a:pt x="501269" y="1957832"/>
                  </a:cubicBezTo>
                  <a:cubicBezTo>
                    <a:pt x="224282" y="1957832"/>
                    <a:pt x="0" y="1733296"/>
                    <a:pt x="0" y="1456436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92969" y="5682332"/>
            <a:ext cx="281880" cy="293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2187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97968" y="5255196"/>
            <a:ext cx="2413695" cy="287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12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Image Build &amp; Tagging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97968" y="5689179"/>
            <a:ext cx="7316689" cy="563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The workflow builds the Docker image and tags it with both :latest and a unique commit hash for version control.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57969" y="6742584"/>
            <a:ext cx="752029" cy="1458814"/>
            <a:chOff x="0" y="0"/>
            <a:chExt cx="1002705" cy="19450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2665" cy="1945132"/>
            </a:xfrm>
            <a:custGeom>
              <a:avLst/>
              <a:gdLst/>
              <a:ahLst/>
              <a:cxnLst/>
              <a:rect r="r" b="b" t="t" l="l"/>
              <a:pathLst>
                <a:path h="1945132" w="1002665">
                  <a:moveTo>
                    <a:pt x="0" y="501396"/>
                  </a:moveTo>
                  <a:cubicBezTo>
                    <a:pt x="0" y="224409"/>
                    <a:pt x="224409" y="0"/>
                    <a:pt x="501396" y="0"/>
                  </a:cubicBezTo>
                  <a:cubicBezTo>
                    <a:pt x="778383" y="0"/>
                    <a:pt x="1002665" y="224409"/>
                    <a:pt x="1002665" y="501396"/>
                  </a:cubicBezTo>
                  <a:lnTo>
                    <a:pt x="1002665" y="1443736"/>
                  </a:lnTo>
                  <a:cubicBezTo>
                    <a:pt x="1002665" y="1720596"/>
                    <a:pt x="778256" y="1945132"/>
                    <a:pt x="501269" y="1945132"/>
                  </a:cubicBezTo>
                  <a:cubicBezTo>
                    <a:pt x="224282" y="1945132"/>
                    <a:pt x="0" y="1720596"/>
                    <a:pt x="0" y="1443736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892969" y="7333879"/>
            <a:ext cx="281880" cy="293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2187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97968" y="6911504"/>
            <a:ext cx="2350145" cy="287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12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Artifact Push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97968" y="7345487"/>
            <a:ext cx="7316689" cy="563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The new, versioned image is automatically pushed to Docker Hub, ready for K8s deployment.</a:t>
            </a:r>
          </a:p>
        </p:txBody>
      </p: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9333756" y="1256110"/>
            <a:ext cx="8256686" cy="5160317"/>
            <a:chOff x="0" y="0"/>
            <a:chExt cx="11008915" cy="6880423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1008868" cy="6880479"/>
            </a:xfrm>
            <a:custGeom>
              <a:avLst/>
              <a:gdLst/>
              <a:ahLst/>
              <a:cxnLst/>
              <a:rect r="r" b="b" t="t" l="l"/>
              <a:pathLst>
                <a:path h="6880479" w="11008868">
                  <a:moveTo>
                    <a:pt x="0" y="0"/>
                  </a:moveTo>
                  <a:lnTo>
                    <a:pt x="11008868" y="0"/>
                  </a:lnTo>
                  <a:lnTo>
                    <a:pt x="11008868" y="6880479"/>
                  </a:lnTo>
                  <a:lnTo>
                    <a:pt x="0" y="68804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" r="0" b="-11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333756" y="6768852"/>
            <a:ext cx="539695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Infrastructure as Code (IaC) with Ansible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73344" y="7226052"/>
            <a:ext cx="8256686" cy="67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An </a:t>
            </a:r>
            <a:r>
              <a:rPr lang="en-US" sz="1437" b="true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Ansible Playbook</a:t>
            </a:r>
            <a:r>
              <a:rPr lang="en-US" sz="143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(setup_server.yml) was used to demonstrate automated server configuration on AWS, ensuring consistency.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73344" y="7984406"/>
            <a:ext cx="8256686" cy="367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793" indent="-108396" lvl="1">
              <a:lnSpc>
                <a:spcPts val="2312"/>
              </a:lnSpc>
              <a:buFont typeface="Arial"/>
              <a:buChar char="•"/>
            </a:pPr>
            <a:r>
              <a:rPr lang="en-US" sz="143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Defines tasks to update base packages.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82869" y="8427914"/>
            <a:ext cx="8256686" cy="367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793" indent="-108396" lvl="1">
              <a:lnSpc>
                <a:spcPts val="2312"/>
              </a:lnSpc>
              <a:buFont typeface="Arial"/>
              <a:buChar char="•"/>
            </a:pPr>
            <a:r>
              <a:rPr lang="en-US" sz="143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Installs the Docker engine and dependencies.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382869" y="8784060"/>
            <a:ext cx="8256686" cy="367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6793" indent="-108396" lvl="1">
              <a:lnSpc>
                <a:spcPts val="2312"/>
              </a:lnSpc>
              <a:buFont typeface="Arial"/>
              <a:buChar char="•"/>
            </a:pPr>
            <a:r>
              <a:rPr lang="en-US" sz="143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Verifies that the Docker service is running and enabled.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82869" y="9227567"/>
            <a:ext cx="8256686" cy="367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This adheres to the core IaC principle: repeatable, non-manual setup.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7801" y="730151"/>
            <a:ext cx="15567124" cy="911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Deployment and Observability with Kubernetes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7801" y="2114253"/>
            <a:ext cx="16332399" cy="532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Kubernetes manages the application's runtime state, while a dedicated monitoring stack ensures performance visibility.</a:t>
            </a:r>
          </a:p>
        </p:txBody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977801" y="2961085"/>
            <a:ext cx="838051" cy="838051"/>
            <a:chOff x="0" y="0"/>
            <a:chExt cx="1117402" cy="1117402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117346" cy="1117346"/>
            </a:xfrm>
            <a:custGeom>
              <a:avLst/>
              <a:gdLst/>
              <a:ahLst/>
              <a:cxnLst/>
              <a:rect r="r" b="b" t="t" l="l"/>
              <a:pathLst>
                <a:path h="1117346" w="1117346">
                  <a:moveTo>
                    <a:pt x="0" y="0"/>
                  </a:moveTo>
                  <a:lnTo>
                    <a:pt x="1117346" y="0"/>
                  </a:lnTo>
                  <a:lnTo>
                    <a:pt x="1117346" y="1117346"/>
                  </a:lnTo>
                  <a:lnTo>
                    <a:pt x="0" y="1117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" b="-4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77801" y="4138761"/>
            <a:ext cx="474851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250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Declarative Deployment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7801" y="4754016"/>
            <a:ext cx="7991624" cy="979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Used YAML manifests for the Deployment (3 replicas for resilience) and Service (stable network endpoint).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9318575" y="2961085"/>
            <a:ext cx="838051" cy="838051"/>
            <a:chOff x="0" y="0"/>
            <a:chExt cx="1117402" cy="111740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117346" cy="1117346"/>
            </a:xfrm>
            <a:custGeom>
              <a:avLst/>
              <a:gdLst/>
              <a:ahLst/>
              <a:cxnLst/>
              <a:rect r="r" b="b" t="t" l="l"/>
              <a:pathLst>
                <a:path h="1117346" w="1117346">
                  <a:moveTo>
                    <a:pt x="0" y="0"/>
                  </a:moveTo>
                  <a:lnTo>
                    <a:pt x="1117346" y="0"/>
                  </a:lnTo>
                  <a:lnTo>
                    <a:pt x="1117346" y="1117346"/>
                  </a:lnTo>
                  <a:lnTo>
                    <a:pt x="0" y="1117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4" b="-4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318575" y="4138761"/>
            <a:ext cx="488126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250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Zero-Downtime Updates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18575" y="4754016"/>
            <a:ext cx="7991624" cy="989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Achieved rolling updates with kubectl rollout restart, demonstrating seamless application patching.</a:t>
            </a:r>
          </a:p>
        </p:txBody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977801" y="6301829"/>
            <a:ext cx="838051" cy="838051"/>
            <a:chOff x="0" y="0"/>
            <a:chExt cx="1117402" cy="1117402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117346" cy="1117346"/>
            </a:xfrm>
            <a:custGeom>
              <a:avLst/>
              <a:gdLst/>
              <a:ahLst/>
              <a:cxnLst/>
              <a:rect r="r" b="b" t="t" l="l"/>
              <a:pathLst>
                <a:path h="1117346" w="1117346">
                  <a:moveTo>
                    <a:pt x="0" y="0"/>
                  </a:moveTo>
                  <a:lnTo>
                    <a:pt x="1117346" y="0"/>
                  </a:lnTo>
                  <a:lnTo>
                    <a:pt x="1117346" y="1117346"/>
                  </a:lnTo>
                  <a:lnTo>
                    <a:pt x="0" y="1117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" b="-4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77801" y="7479506"/>
            <a:ext cx="464626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250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Prometheus Integration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7801" y="8094761"/>
            <a:ext cx="7991624" cy="1426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lang="en-US" sz="2187" b="true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ServiceMonitor</a:t>
            </a:r>
            <a:r>
              <a:rPr lang="en-US" sz="2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resource was crucial for Prometheus to automatically discover and scrape metrics from application pods.</a:t>
            </a:r>
          </a:p>
        </p:txBody>
      </p: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9318575" y="6301829"/>
            <a:ext cx="838051" cy="838051"/>
            <a:chOff x="0" y="0"/>
            <a:chExt cx="1117402" cy="1117402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117346" cy="1117346"/>
            </a:xfrm>
            <a:custGeom>
              <a:avLst/>
              <a:gdLst/>
              <a:ahLst/>
              <a:cxnLst/>
              <a:rect r="r" b="b" t="t" l="l"/>
              <a:pathLst>
                <a:path h="1117346" w="1117346">
                  <a:moveTo>
                    <a:pt x="0" y="0"/>
                  </a:moveTo>
                  <a:lnTo>
                    <a:pt x="1117346" y="0"/>
                  </a:lnTo>
                  <a:lnTo>
                    <a:pt x="1117346" y="1117346"/>
                  </a:lnTo>
                  <a:lnTo>
                    <a:pt x="0" y="1117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4" b="-4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318575" y="7479506"/>
            <a:ext cx="4190851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250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Metrics Exposure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18575" y="8094761"/>
            <a:ext cx="7991624" cy="979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Implemented a </a:t>
            </a:r>
            <a:r>
              <a:rPr lang="en-US" sz="2187" b="true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nginx-exporter sidecar</a:t>
            </a:r>
            <a:r>
              <a:rPr lang="en-US" sz="2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container within the application pods to expose performance metrics.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64618"/>
            <a:ext cx="8129141" cy="90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Challenges Encountered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361879"/>
            <a:ext cx="8009930" cy="5441305"/>
            <a:chOff x="0" y="0"/>
            <a:chExt cx="10679907" cy="72550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79938" cy="7255129"/>
            </a:xfrm>
            <a:custGeom>
              <a:avLst/>
              <a:gdLst/>
              <a:ahLst/>
              <a:cxnLst/>
              <a:rect r="r" b="b" t="t" l="l"/>
              <a:pathLst>
                <a:path h="7255129" w="1067993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098" y="0"/>
                  </a:lnTo>
                  <a:cubicBezTo>
                    <a:pt x="10570718" y="0"/>
                    <a:pt x="10679938" y="109220"/>
                    <a:pt x="10679938" y="243840"/>
                  </a:cubicBezTo>
                  <a:lnTo>
                    <a:pt x="10679938" y="7011289"/>
                  </a:lnTo>
                  <a:cubicBezTo>
                    <a:pt x="10679938" y="7145909"/>
                    <a:pt x="10570718" y="7255129"/>
                    <a:pt x="10436098" y="7255129"/>
                  </a:cubicBezTo>
                  <a:lnTo>
                    <a:pt x="243840" y="7255129"/>
                  </a:lnTo>
                  <a:cubicBezTo>
                    <a:pt x="109220" y="7255129"/>
                    <a:pt x="0" y="7145909"/>
                    <a:pt x="0" y="7011289"/>
                  </a:cubicBezTo>
                  <a:close/>
                </a:path>
              </a:pathLst>
            </a:custGeom>
            <a:solidFill>
              <a:srgbClr val="2D3133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92238" y="3323779"/>
            <a:ext cx="8009930" cy="152400"/>
            <a:chOff x="0" y="0"/>
            <a:chExt cx="10679907" cy="203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79937" cy="203327"/>
            </a:xfrm>
            <a:custGeom>
              <a:avLst/>
              <a:gdLst/>
              <a:ahLst/>
              <a:cxnLst/>
              <a:rect r="r" b="b" t="t" l="l"/>
              <a:pathLst>
                <a:path h="203327" w="1067993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169" y="0"/>
                  </a:lnTo>
                  <a:cubicBezTo>
                    <a:pt x="10654537" y="0"/>
                    <a:pt x="10679937" y="25400"/>
                    <a:pt x="10679937" y="56769"/>
                  </a:cubicBezTo>
                  <a:lnTo>
                    <a:pt x="10679937" y="146558"/>
                  </a:lnTo>
                  <a:cubicBezTo>
                    <a:pt x="10679937" y="177927"/>
                    <a:pt x="10654537" y="203327"/>
                    <a:pt x="10623169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AC9EF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571925" y="2936676"/>
            <a:ext cx="850553" cy="850552"/>
            <a:chOff x="0" y="0"/>
            <a:chExt cx="1134070" cy="11340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AC9EF5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827018" y="3054102"/>
            <a:ext cx="340221" cy="520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3855" y="4061072"/>
            <a:ext cx="6338888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Challenge 1: The </a:t>
            </a:r>
            <a:r>
              <a:rPr lang="en-US" sz="2750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ErrImagePull</a:t>
            </a:r>
            <a:r>
              <a:rPr lang="en-US" sz="2750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 Mystery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3855" y="4616946"/>
            <a:ext cx="7366695" cy="144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Problem:</a:t>
            </a:r>
            <a:r>
              <a:rPr lang="en-US" sz="2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Kubernetes failed to pull images from Docker Hub, despite successful CI build logs. The issue was an almost invisible failure to push the image.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3855" y="6147941"/>
            <a:ext cx="7366695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Solution:</a:t>
            </a:r>
            <a:r>
              <a:rPr lang="en-US" sz="2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The Docker Hub access token lacked "Write" permission. Resolved by generating a new token with </a:t>
            </a:r>
            <a:r>
              <a:rPr lang="en-US" sz="2187" b="true">
                <a:solidFill>
                  <a:srgbClr val="AC9EF5"/>
                </a:solidFill>
                <a:latin typeface="Inter Bold"/>
                <a:ea typeface="Inter Bold"/>
                <a:cs typeface="Inter Bold"/>
                <a:sym typeface="Inter Bold"/>
              </a:rPr>
              <a:t>"Read, Write, Delete"</a:t>
            </a:r>
            <a:r>
              <a:rPr lang="en-US" sz="2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scope, fixing the silent CI/CD push failure.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85685" y="3361879"/>
            <a:ext cx="8010079" cy="5441305"/>
            <a:chOff x="0" y="0"/>
            <a:chExt cx="10680105" cy="725507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80065" cy="7255129"/>
            </a:xfrm>
            <a:custGeom>
              <a:avLst/>
              <a:gdLst/>
              <a:ahLst/>
              <a:cxnLst/>
              <a:rect r="r" b="b" t="t" l="l"/>
              <a:pathLst>
                <a:path h="7255129" w="10680065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225" y="0"/>
                  </a:lnTo>
                  <a:cubicBezTo>
                    <a:pt x="10570845" y="0"/>
                    <a:pt x="10680065" y="109220"/>
                    <a:pt x="10680065" y="243840"/>
                  </a:cubicBezTo>
                  <a:lnTo>
                    <a:pt x="10680065" y="7011289"/>
                  </a:lnTo>
                  <a:cubicBezTo>
                    <a:pt x="10680065" y="7145909"/>
                    <a:pt x="10570845" y="7255129"/>
                    <a:pt x="10436225" y="7255129"/>
                  </a:cubicBezTo>
                  <a:lnTo>
                    <a:pt x="243840" y="7255129"/>
                  </a:lnTo>
                  <a:cubicBezTo>
                    <a:pt x="109220" y="7255129"/>
                    <a:pt x="0" y="7145909"/>
                    <a:pt x="0" y="7011289"/>
                  </a:cubicBezTo>
                  <a:close/>
                </a:path>
              </a:pathLst>
            </a:custGeom>
            <a:solidFill>
              <a:srgbClr val="2D3133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285685" y="3323779"/>
            <a:ext cx="8010079" cy="152400"/>
            <a:chOff x="0" y="0"/>
            <a:chExt cx="10680105" cy="20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80192" cy="203327"/>
            </a:xfrm>
            <a:custGeom>
              <a:avLst/>
              <a:gdLst/>
              <a:ahLst/>
              <a:cxnLst/>
              <a:rect r="r" b="b" t="t" l="l"/>
              <a:pathLst>
                <a:path h="203327" w="1068019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423" y="0"/>
                  </a:lnTo>
                  <a:cubicBezTo>
                    <a:pt x="10654792" y="0"/>
                    <a:pt x="10680192" y="25400"/>
                    <a:pt x="10680192" y="56769"/>
                  </a:cubicBezTo>
                  <a:lnTo>
                    <a:pt x="10680192" y="146558"/>
                  </a:lnTo>
                  <a:cubicBezTo>
                    <a:pt x="10680192" y="177927"/>
                    <a:pt x="10654792" y="203327"/>
                    <a:pt x="10623423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AC9EF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865372" y="2936676"/>
            <a:ext cx="850553" cy="850552"/>
            <a:chOff x="0" y="0"/>
            <a:chExt cx="1134070" cy="11340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AC9EF5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3120464" y="3054102"/>
            <a:ext cx="340221" cy="520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262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07302" y="4061072"/>
            <a:ext cx="7366844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Challenge 2: The "No Data" Monitoring Black Hole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07302" y="5040809"/>
            <a:ext cx="7366844" cy="145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Problem:</a:t>
            </a:r>
            <a:r>
              <a:rPr lang="en-US" sz="2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Metrics were manually available via curl, but Grafana showed no data because Prometheus wasn't scraping them.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07302" y="6581329"/>
            <a:ext cx="7366844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Solution:</a:t>
            </a:r>
            <a:r>
              <a:rPr lang="en-US" sz="2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Prometheus Operator was not discovering the application. The fix required adding a missing </a:t>
            </a:r>
            <a:r>
              <a:rPr lang="en-US" sz="2187" b="true">
                <a:solidFill>
                  <a:srgbClr val="AC9EF5"/>
                </a:solidFill>
                <a:latin typeface="Inter Bold"/>
                <a:ea typeface="Inter Bold"/>
                <a:cs typeface="Inter Bold"/>
                <a:sym typeface="Inter Bold"/>
              </a:rPr>
              <a:t>label (e.g., app: my-website)</a:t>
            </a:r>
            <a:r>
              <a:rPr lang="en-US" sz="2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to the Kubernetes Service manifest, completing the discovery chain.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95908" y="449164"/>
            <a:ext cx="8807649" cy="55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Final Outcome and Critical Lessons Learned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5908" y="1064711"/>
            <a:ext cx="17096185" cy="638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612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We successfully deployed a reliable, automatically built, and fully monitored static website. The process provided invaluable insights into the complexity of modern deployment pipelines. Dashboard for reference.</a:t>
            </a:r>
          </a:p>
        </p:txBody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2072709" y="1843283"/>
            <a:ext cx="14142581" cy="8839113"/>
            <a:chOff x="0" y="0"/>
            <a:chExt cx="22794913" cy="1424682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2794976" cy="14246861"/>
            </a:xfrm>
            <a:custGeom>
              <a:avLst/>
              <a:gdLst/>
              <a:ahLst/>
              <a:cxnLst/>
              <a:rect r="r" b="b" t="t" l="l"/>
              <a:pathLst>
                <a:path h="14246861" w="22794976">
                  <a:moveTo>
                    <a:pt x="0" y="0"/>
                  </a:moveTo>
                  <a:lnTo>
                    <a:pt x="22794976" y="0"/>
                  </a:lnTo>
                  <a:lnTo>
                    <a:pt x="22794976" y="14246861"/>
                  </a:lnTo>
                  <a:lnTo>
                    <a:pt x="0" y="14246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" r="0" b="-5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DAG06RfufZA</dc:identifier>
  <dcterms:modified xsi:type="dcterms:W3CDTF">2011-08-01T06:04:30Z</dcterms:modified>
  <cp:revision>1</cp:revision>
  <dc:title>Dev-Ops-Pipelinening.pptx</dc:title>
</cp:coreProperties>
</file>